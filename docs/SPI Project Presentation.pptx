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1914673"/>
            <a:ext cx="7620000" cy="281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38BDF8"/>
                </a:solidFill>
                <a:latin typeface="Inter SemiBold"/>
              </a:rPr>
              <a:t>VLSI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5500" y="2362348"/>
            <a:ext cx="8001000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Outfit"/>
              </a:rPr>
              <a:t>Design &amp; Verification of</a:t>
            </a:r>
            <a:r>
              <a:t>
</a:t>
            </a:r>
            <a:r>
              <a:rPr sz="4800" b="1" i="0" u="none">
                <a:solidFill>
                  <a:srgbClr val="38BDF8"/>
                </a:solidFill>
                <a:latin typeface="Outfit"/>
              </a:rPr>
              <a:t>SPI Master-Slave</a:t>
            </a:r>
            <a:r>
              <a:rPr sz="4800" b="1" i="0" u="none">
                <a:solidFill>
                  <a:srgbClr val="F8FAFC"/>
                </a:solidFill>
                <a:latin typeface="Outfit"/>
              </a:rPr>
              <a:t>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924778"/>
            <a:ext cx="7620000" cy="7117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>
                <a:solidFill>
                  <a:srgbClr val="CBD5E1"/>
                </a:solidFill>
                <a:latin typeface="Inter"/>
              </a:rPr>
              <a:t>Verilog RTL development, testbench creation, and full-duplex waveform simulation.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BCF4A4-9F33-2382-3C4D-D01473CB2AD6}"/>
              </a:ext>
            </a:extLst>
          </p:cNvPr>
          <p:cNvSpPr txBox="1"/>
          <p:nvPr/>
        </p:nvSpPr>
        <p:spPr>
          <a:xfrm>
            <a:off x="4503173" y="4144531"/>
            <a:ext cx="3185653" cy="339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000" b="1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RAHUL D J</a:t>
            </a:r>
            <a:endParaRPr sz="2000" b="1" i="0" u="none" dirty="0">
              <a:solidFill>
                <a:srgbClr val="CBD5E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671637"/>
            <a:ext cx="52768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E2E8F0"/>
                </a:solidFill>
                <a:latin typeface="Inter Medium"/>
              </a:rPr>
              <a:t>Serial Peripheral Interface (SPI) is the backbone of modern embedded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2424112"/>
            <a:ext cx="49911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94A3B8"/>
                </a:solidFill>
                <a:latin typeface="Inter"/>
              </a:rPr>
              <a:t>Microcontrollers:</a:t>
            </a:r>
            <a:r>
              <a:rPr sz="1500" b="0" i="0" u="none">
                <a:solidFill>
                  <a:srgbClr val="94A3B8"/>
                </a:solidFill>
                <a:latin typeface="Inter"/>
              </a:rPr>
              <a:t> Almost all MCUs (like Arduino, ESP32, STM32) use SPI to talk to peripherals.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224212"/>
            <a:ext cx="49911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94A3B8"/>
                </a:solidFill>
                <a:latin typeface="Inter"/>
              </a:rPr>
              <a:t>Sensors:</a:t>
            </a:r>
            <a:r>
              <a:rPr sz="1500" b="0" i="0" u="none">
                <a:solidFill>
                  <a:srgbClr val="94A3B8"/>
                </a:solidFill>
                <a:latin typeface="Inter"/>
              </a:rPr>
              <a:t> High-speed temperature, accelerometer, and gyro sensors rely on SPI for fast data readout without lag.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329112"/>
            <a:ext cx="49911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94A3B8"/>
                </a:solidFill>
                <a:latin typeface="Inter"/>
              </a:rPr>
              <a:t>OLED Displays:</a:t>
            </a:r>
            <a:r>
              <a:rPr sz="1500" b="0" i="0" u="none">
                <a:solidFill>
                  <a:srgbClr val="94A3B8"/>
                </a:solidFill>
                <a:latin typeface="Inter"/>
              </a:rPr>
              <a:t> Because SPI is a fast, synchronous protocol, it is perfect for pushing pixel data to small screens rapidly.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5434012"/>
            <a:ext cx="49911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94A3B8"/>
                </a:solidFill>
                <a:latin typeface="Inter"/>
              </a:rPr>
              <a:t>Simplicity:</a:t>
            </a:r>
            <a:r>
              <a:rPr sz="1500" b="0" i="0" u="none">
                <a:solidFill>
                  <a:srgbClr val="94A3B8"/>
                </a:solidFill>
                <a:latin typeface="Inter"/>
              </a:rPr>
              <a:t> No complex addressing overhead—just pull the Chip Select line low and start the clock.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774" y="1309730"/>
            <a:ext cx="5742039" cy="44671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2405062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205162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310062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414962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Outfit"/>
              </a:rPr>
              <a:t>Why SPI? </a:t>
            </a:r>
            <a:r>
              <a:rPr sz="3000" b="1" i="0" u="none">
                <a:solidFill>
                  <a:srgbClr val="38BDF8"/>
                </a:solidFill>
                <a:latin typeface="Outfit"/>
              </a:rPr>
              <a:t>Real-World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743075"/>
            <a:ext cx="3486150" cy="422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743075"/>
            <a:ext cx="3486150" cy="422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743075"/>
            <a:ext cx="3486150" cy="422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2085975"/>
            <a:ext cx="666750" cy="66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3925" y="2990850"/>
            <a:ext cx="252031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2E8F0"/>
                </a:solidFill>
                <a:latin typeface="Outfit"/>
              </a:rPr>
              <a:t>1. RTL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657600"/>
            <a:ext cx="28003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Develop robust Verilog RTL source code for both Master and Slave modules, ensuring reliable, synthesizeable state-machine design.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825" y="2085975"/>
            <a:ext cx="666750" cy="666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95825" y="2990850"/>
            <a:ext cx="178022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2E8F0"/>
                </a:solidFill>
                <a:latin typeface="Outfit"/>
              </a:rPr>
              <a:t>2.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5825" y="3657600"/>
            <a:ext cx="28003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Create a comprehensive testbench to verify all major functionalities and ensure the logic holds up under simulated conditions.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725" y="2085975"/>
            <a:ext cx="666750" cy="666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67725" y="2990850"/>
            <a:ext cx="274034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2E8F0"/>
                </a:solidFill>
                <a:latin typeface="Outfit"/>
              </a:rPr>
              <a:t>3. Waveform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725" y="3657600"/>
            <a:ext cx="280035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Demonstrate successful full-duplex communication (simultaneous data transmission and reception) through rigorous waveform simulation.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" y="2266950"/>
            <a:ext cx="3810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6800" y="2266950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48700" y="226695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Outfit"/>
              </a:rPr>
              <a:t>Project </a:t>
            </a:r>
            <a:r>
              <a:rPr sz="3000" b="1" i="0" u="none">
                <a:solidFill>
                  <a:srgbClr val="38BDF8"/>
                </a:solidFill>
                <a:latin typeface="Outfit"/>
              </a:rPr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281237"/>
            <a:ext cx="5276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E2E8F0"/>
                </a:solidFill>
                <a:latin typeface="Inter Medium"/>
              </a:rPr>
              <a:t>We implemented SPI Mode 0 (CPOL=0, CPHA=0).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2728912"/>
            <a:ext cx="4991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94A3B8"/>
                </a:solidFill>
                <a:latin typeface="Inter"/>
              </a:rPr>
              <a:t>SCLK (Clock):</a:t>
            </a:r>
            <a:r>
              <a:rPr sz="1500" b="0" i="0" u="none">
                <a:solidFill>
                  <a:srgbClr val="94A3B8"/>
                </a:solidFill>
                <a:latin typeface="Inter"/>
              </a:rPr>
              <a:t> Generated by the Master. Idles 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224212"/>
            <a:ext cx="49911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94A3B8"/>
                </a:solidFill>
                <a:latin typeface="Inter"/>
              </a:rPr>
              <a:t>MOSI &amp; MISO:</a:t>
            </a:r>
            <a:r>
              <a:rPr sz="1500" b="0" i="0" u="none">
                <a:solidFill>
                  <a:srgbClr val="94A3B8"/>
                </a:solidFill>
                <a:latin typeface="Inter"/>
              </a:rPr>
              <a:t> Data travels simultaneously on two wires for true full-duplex, high-throughput swapping.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024312"/>
            <a:ext cx="49911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94A3B8"/>
                </a:solidFill>
                <a:latin typeface="Inter"/>
              </a:rPr>
              <a:t>CS (Chip Select):</a:t>
            </a:r>
            <a:r>
              <a:rPr sz="1500" b="0" i="0" u="none">
                <a:solidFill>
                  <a:srgbClr val="94A3B8"/>
                </a:solidFill>
                <a:latin typeface="Inter"/>
              </a:rPr>
              <a:t> Active-low signal that wakes up the Slave.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824412"/>
            <a:ext cx="49911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94A3B8"/>
                </a:solidFill>
                <a:latin typeface="Inter"/>
              </a:rPr>
              <a:t>Data Sampling:</a:t>
            </a:r>
            <a:r>
              <a:rPr sz="1500" b="0" i="0" u="none">
                <a:solidFill>
                  <a:srgbClr val="94A3B8"/>
                </a:solidFill>
                <a:latin typeface="Inter"/>
              </a:rPr>
              <a:t> Because CPHA=0, data is sampled on the leading (rising) edge of the clock.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748" y="1928812"/>
            <a:ext cx="5276849" cy="381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2709862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205162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005262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805362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Outfit"/>
              </a:rPr>
              <a:t>The </a:t>
            </a:r>
            <a:r>
              <a:rPr sz="3000" b="1" i="0" u="none">
                <a:solidFill>
                  <a:srgbClr val="38BDF8"/>
                </a:solidFill>
                <a:latin typeface="Outfit"/>
              </a:rPr>
              <a:t>Architecture</a:t>
            </a:r>
            <a:r>
              <a:rPr sz="3000" b="1" i="0" u="none">
                <a:solidFill>
                  <a:srgbClr val="F8FAFC"/>
                </a:solidFill>
                <a:latin typeface="Outfit"/>
              </a:rPr>
              <a:t> (Mode 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19325"/>
            <a:ext cx="5276850" cy="3276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219325"/>
            <a:ext cx="5276850" cy="3276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2609850"/>
            <a:ext cx="472059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The Master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3133725"/>
            <a:ext cx="4495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Designed using a 2-state Moore Machine (IDLE and TRANSFER). The Master controls the entire transaction. Upon receiving a 'start' trigger, it pulls CS low, generates exactly 8 clock pulses, and shifts data out on MOSI while capturing data on MISO.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2609850"/>
            <a:ext cx="472059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Outfit"/>
              </a:rPr>
              <a:t>The Slave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3133725"/>
            <a:ext cx="44958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Designed as purely passive, reactive logic. It has no internal clock generator. It uses a shift register to instantly push its first bit onto MISO when CS drops low, and then shifts remaining bits on the falling edges of the Master's clock.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Outfit"/>
              </a:rPr>
              <a:t>RTL </a:t>
            </a:r>
            <a:r>
              <a:rPr sz="3000" b="1" i="0" u="none">
                <a:solidFill>
                  <a:srgbClr val="38BDF8"/>
                </a:solidFill>
                <a:latin typeface="Outfit"/>
              </a:rPr>
              <a:t>Implementation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8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2505075"/>
            <a:ext cx="49911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Both Master and Slave modules were compiled cleanly within a single `design.sv` 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3305175"/>
            <a:ext cx="49911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Code was written utilizing non-blocking (`&lt;=`) assignments inside sequential blocks to prevent race conditions during synthesis.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4410075"/>
            <a:ext cx="49911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The Testbench was loaded with specific hex data to track the swap: Master sends A5 and Slave sends 3C.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486025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286125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4391025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Outfit"/>
              </a:rPr>
              <a:t>Coding Environment </a:t>
            </a:r>
            <a:r>
              <a:rPr sz="3000" b="1" i="0" u="none">
                <a:solidFill>
                  <a:srgbClr val="38BDF8"/>
                </a:solidFill>
                <a:latin typeface="Outfit"/>
              </a:rPr>
              <a:t>(EDA Playground)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CBD354-D59D-AAEF-FC10-62574FCEB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6" y="2017765"/>
            <a:ext cx="6206306" cy="34807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224087"/>
            <a:ext cx="5276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E2E8F0"/>
                </a:solidFill>
                <a:latin typeface="Inter Medium"/>
              </a:rPr>
              <a:t>Simulations are critical for catching timing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2671762"/>
            <a:ext cx="49911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94A3B8"/>
                </a:solidFill>
                <a:latin typeface="Inter"/>
              </a:rPr>
              <a:t>The Issue:</a:t>
            </a:r>
            <a:r>
              <a:rPr sz="1500" b="0" i="0" u="none">
                <a:solidFill>
                  <a:srgbClr val="94A3B8"/>
                </a:solidFill>
                <a:latin typeface="Inter"/>
              </a:rPr>
              <a:t> Notice how `miso` stays flat initially? The Master received `00` instead of `3c`.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471862"/>
            <a:ext cx="49911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94A3B8"/>
                </a:solidFill>
                <a:latin typeface="Inter"/>
              </a:rPr>
              <a:t>Root Cause:</a:t>
            </a:r>
            <a:r>
              <a:rPr sz="1500" b="0" i="0" u="none">
                <a:solidFill>
                  <a:srgbClr val="94A3B8"/>
                </a:solidFill>
                <a:latin typeface="Inter"/>
              </a:rPr>
              <a:t> Mode 0 requires the Slave to have its first bit ready *before* the first clock edge. The initial RTL waited for a clock edge to shift.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576762"/>
            <a:ext cx="49911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94A3B8"/>
                </a:solidFill>
                <a:latin typeface="Inter"/>
              </a:rPr>
              <a:t>The Fix:</a:t>
            </a:r>
            <a:r>
              <a:rPr sz="1500" b="0" i="0" u="none">
                <a:solidFill>
                  <a:srgbClr val="94A3B8"/>
                </a:solidFill>
                <a:latin typeface="Inter"/>
              </a:rPr>
              <a:t> The Slave logic was updated with continuous assignments to push the MSB onto MISO the exact instant `cs` drops 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2652712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452812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557712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Outfit"/>
              </a:rPr>
              <a:t>Verification: </a:t>
            </a:r>
            <a:r>
              <a:rPr sz="3000" b="1" i="0" u="none">
                <a:solidFill>
                  <a:srgbClr val="38BDF8"/>
                </a:solidFill>
                <a:latin typeface="Outfit"/>
              </a:rPr>
              <a:t>Catching a Bug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309935B-8B01-E221-9A67-A475C3447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5" y="2528887"/>
            <a:ext cx="6249225" cy="21832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2257425"/>
            <a:ext cx="3574702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Signals are ordered logically: Setup, Inputs, SPI Bus,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3057525"/>
            <a:ext cx="3574702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When `start` pulses, `cs` drops and `sclk` fires 8 times.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857625"/>
            <a:ext cx="357470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94A3B8"/>
                </a:solidFill>
                <a:latin typeface="Inter"/>
              </a:rPr>
              <a:t>Look at the green lines:</a:t>
            </a:r>
            <a:r>
              <a:rPr sz="1500" b="0" i="0" u="none">
                <a:solidFill>
                  <a:srgbClr val="94A3B8"/>
                </a:solidFill>
                <a:latin typeface="Inter"/>
              </a:rPr>
              <a:t> `m_dout` successfully captures 3c and `s_dout` successfully captures a5.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962525"/>
            <a:ext cx="357470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Data swap is mathematically perfect.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2238375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038475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838575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943475"/>
            <a:ext cx="1047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Outfit"/>
              </a:rPr>
              <a:t>Final Result: </a:t>
            </a:r>
            <a:r>
              <a:rPr sz="3000" b="1" i="0" u="none">
                <a:solidFill>
                  <a:srgbClr val="38BDF8"/>
                </a:solidFill>
                <a:latin typeface="Outfit"/>
              </a:rPr>
              <a:t>100% Full-Duplex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6F3348-F893-1127-C15C-4936F00E1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452" y="2350416"/>
            <a:ext cx="7456872" cy="2567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09750" y="1128712"/>
            <a:ext cx="8572500" cy="1009650"/>
          </a:xfrm>
          <a:prstGeom prst="roundRect">
            <a:avLst>
              <a:gd name="adj" fmla="val 75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4600" y="1319212"/>
            <a:ext cx="7581900" cy="628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E2E8F0"/>
                </a:solidFill>
                <a:latin typeface="Inter"/>
              </a:rPr>
              <a:t>Verilog RTL Source Code:</a:t>
            </a:r>
            <a:r>
              <a:rPr sz="1500" b="0" i="0" u="none">
                <a:solidFill>
                  <a:srgbClr val="E2E8F0"/>
                </a:solidFill>
                <a:latin typeface="Inter Medium"/>
              </a:rPr>
              <a:t> Clean, synthesizeable Master and Slave modules developed.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9750" y="2281237"/>
            <a:ext cx="8572500" cy="704850"/>
          </a:xfrm>
          <a:prstGeom prst="roundRect">
            <a:avLst>
              <a:gd name="adj" fmla="val 1081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4600" y="2471737"/>
            <a:ext cx="758190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E2E8F0"/>
                </a:solidFill>
                <a:latin typeface="Inter"/>
              </a:rPr>
              <a:t>Proper Testbench:</a:t>
            </a:r>
            <a:r>
              <a:rPr sz="1500" b="0" i="0" u="none">
                <a:solidFill>
                  <a:srgbClr val="E2E8F0"/>
                </a:solidFill>
                <a:latin typeface="Inter Medium"/>
              </a:rPr>
              <a:t> Created to inject specific Hex values and trigger transactions.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9750" y="3128962"/>
            <a:ext cx="8572500" cy="1009650"/>
          </a:xfrm>
          <a:prstGeom prst="roundRect">
            <a:avLst>
              <a:gd name="adj" fmla="val 75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14600" y="3319462"/>
            <a:ext cx="7581900" cy="628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E2E8F0"/>
                </a:solidFill>
                <a:latin typeface="Inter"/>
              </a:rPr>
              <a:t>Verification &amp; Debugging:</a:t>
            </a:r>
            <a:r>
              <a:rPr sz="1500" b="0" i="0" u="none">
                <a:solidFill>
                  <a:srgbClr val="E2E8F0"/>
                </a:solidFill>
                <a:latin typeface="Inter Medium"/>
              </a:rPr>
              <a:t> Successfully identified and patched a Mode 0 timing bug.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9750" y="4281487"/>
            <a:ext cx="8572500" cy="1009650"/>
          </a:xfrm>
          <a:prstGeom prst="roundRect">
            <a:avLst>
              <a:gd name="adj" fmla="val 75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600" y="4471987"/>
            <a:ext cx="7581900" cy="628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E2E8F0"/>
                </a:solidFill>
                <a:latin typeface="Inter"/>
              </a:rPr>
              <a:t>Simulation Waveforms:</a:t>
            </a:r>
            <a:r>
              <a:rPr sz="1500" b="0" i="0" u="none">
                <a:solidFill>
                  <a:srgbClr val="E2E8F0"/>
                </a:solidFill>
                <a:latin typeface="Inter Medium"/>
              </a:rPr>
              <a:t> Documented logical proof of full-duplex 8-bit data swapping.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9750" y="5434012"/>
            <a:ext cx="8572500" cy="1009650"/>
          </a:xfrm>
          <a:prstGeom prst="roundRect">
            <a:avLst>
              <a:gd name="adj" fmla="val 75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5624512"/>
            <a:ext cx="7581900" cy="628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E2E8F0"/>
                </a:solidFill>
                <a:latin typeface="Inter"/>
              </a:rPr>
              <a:t>Presentation &amp; Understanding:</a:t>
            </a:r>
            <a:r>
              <a:rPr sz="1500" b="0" i="0" u="none">
                <a:solidFill>
                  <a:srgbClr val="E2E8F0"/>
                </a:solidFill>
                <a:latin typeface="Inter Medium"/>
              </a:rPr>
              <a:t> Prepared to clearly explain logic, architecture, and results.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9750" y="2128837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09750" y="2976562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09750" y="4129087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09750" y="5281612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09750" y="6434137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025" y="1509712"/>
            <a:ext cx="22860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025" y="2509837"/>
            <a:ext cx="228600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025" y="3509962"/>
            <a:ext cx="228600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025" y="4662487"/>
            <a:ext cx="228600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025" y="5815012"/>
            <a:ext cx="228600" cy="2476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271462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Outfit"/>
              </a:rPr>
              <a:t>Project </a:t>
            </a:r>
            <a:r>
              <a:rPr sz="3000" b="1" i="0" u="none">
                <a:solidFill>
                  <a:srgbClr val="38BDF8"/>
                </a:solidFill>
                <a:latin typeface="Outfit"/>
              </a:rPr>
              <a:t>Deliverables Met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2529780"/>
            <a:ext cx="11581447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38BDF8"/>
                </a:solidFill>
                <a:latin typeface="Outfit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3758505"/>
            <a:ext cx="1102995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94A3B8"/>
                </a:solidFill>
                <a:latin typeface="Inter"/>
              </a:rPr>
              <a:t>Thank you for your time and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710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Inter</vt:lpstr>
      <vt:lpstr>Inter Medium</vt:lpstr>
      <vt:lpstr>Inter SemiBold</vt:lpstr>
      <vt:lpstr>Outfit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Prashanth G</cp:lastModifiedBy>
  <cp:revision>6</cp:revision>
  <dcterms:created xsi:type="dcterms:W3CDTF">2013-01-27T09:14:16Z</dcterms:created>
  <dcterms:modified xsi:type="dcterms:W3CDTF">2026-09-14T06:15:44Z</dcterms:modified>
  <cp:category/>
</cp:coreProperties>
</file>